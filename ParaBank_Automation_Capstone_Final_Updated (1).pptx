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39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9144000" cy="35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4" name="SlideNum"/>
          <p:cNvSpPr/>
          <p:nvPr/>
        </p:nvSpPr>
        <p:spPr>
          <a:xfrm>
            <a:off x="8700000" y="4900000"/>
            <a:ext cx="4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fld id="{00000001-1234-1234-1234-000000000001}" type="slidenum">
              <a:rPr lang="en-US" sz="900" smtClean="0">
                <a:solidFill>
                  <a:srgbClr val="90A4AE"/>
                </a:solidFill>
              </a:rPr>
              <a:t>1</a:t>
            </a:fld>
            <a:r>
              <a:rPr lang="en-US" sz="900" dirty="0">
                <a:solidFill>
                  <a:srgbClr val="90A4AE"/>
                </a:solidFill>
              </a:rPr>
              <a:t>/19</a:t>
            </a:r>
          </a:p>
        </p:txBody>
      </p:sp>
      <p:sp>
        <p:nvSpPr>
          <p:cNvPr id="5" name="Text 2"/>
          <p:cNvSpPr/>
          <p:nvPr/>
        </p:nvSpPr>
        <p:spPr>
          <a:xfrm>
            <a:off x="274320" y="4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</a:rPr>
              <a:t>ParaBank Automation Testing</a:t>
            </a:r>
          </a:p>
        </p:txBody>
      </p:sp>
      <p:sp>
        <p:nvSpPr>
          <p:cNvPr id="6" name="Text 3"/>
          <p:cNvSpPr/>
          <p:nvPr/>
        </p:nvSpPr>
        <p:spPr>
          <a:xfrm>
            <a:off x="274320" y="1180000"/>
            <a:ext cx="85953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0A4AE"/>
                </a:solidFill>
                <a:latin typeface="Calibri" pitchFamily="34" charset="0"/>
              </a:rPr>
              <a:t>End-to-End Banking Application Automation Using Selenium, Python &amp; Pytest-BDD</a:t>
            </a:r>
          </a:p>
        </p:txBody>
      </p:sp>
      <p:sp>
        <p:nvSpPr>
          <p:cNvPr id="7" name="Shape 4"/>
          <p:cNvSpPr/>
          <p:nvPr/>
        </p:nvSpPr>
        <p:spPr>
          <a:xfrm>
            <a:off x="274320" y="1650000"/>
            <a:ext cx="8595360" cy="45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1720000"/>
            <a:ext cx="4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</a:rPr>
              <a:t>Capstone Project</a:t>
            </a:r>
          </a:p>
        </p:txBody>
      </p:sp>
      <p:sp>
        <p:nvSpPr>
          <p:cNvPr id="9" name="Text 6"/>
          <p:cNvSpPr/>
          <p:nvPr/>
        </p:nvSpPr>
        <p:spPr>
          <a:xfrm>
            <a:off x="274320" y="205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00897B"/>
                </a:solidFill>
                <a:latin typeface="Calibri" pitchFamily="34" charset="0"/>
              </a:rPr>
              <a:t>Our Team</a:t>
            </a:r>
          </a:p>
        </p:txBody>
      </p:sp>
      <p:pic>
        <p:nvPicPr>
          <p:cNvPr id="20" name="Photo_Priyanshu_Pand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" y="3200000"/>
            <a:ext cx="950000" cy="1100000"/>
          </a:xfrm>
          <a:prstGeom prst="rect">
            <a:avLst/>
          </a:prstGeom>
        </p:spPr>
      </p:pic>
      <p:pic>
        <p:nvPicPr>
          <p:cNvPr id="21" name="Photo_Lavanya_Challapall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000" y="3200000"/>
            <a:ext cx="950000" cy="1100000"/>
          </a:xfrm>
          <a:prstGeom prst="rect">
            <a:avLst/>
          </a:prstGeom>
        </p:spPr>
      </p:pic>
      <p:pic>
        <p:nvPicPr>
          <p:cNvPr id="22" name="Photo_Aditya_J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00" y="3200000"/>
            <a:ext cx="950000" cy="1100000"/>
          </a:xfrm>
          <a:prstGeom prst="rect">
            <a:avLst/>
          </a:prstGeom>
        </p:spPr>
      </p:pic>
      <p:pic>
        <p:nvPicPr>
          <p:cNvPr id="23" name="Photo_Ishika_Sin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7000" y="3200000"/>
            <a:ext cx="950000" cy="1100000"/>
          </a:xfrm>
          <a:prstGeom prst="rect">
            <a:avLst/>
          </a:prstGeom>
        </p:spPr>
      </p:pic>
      <p:pic>
        <p:nvPicPr>
          <p:cNvPr id="24" name="Photo_Shubham_Pand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6000" y="3200000"/>
            <a:ext cx="950000" cy="1100000"/>
          </a:xfrm>
          <a:prstGeom prst="rect">
            <a:avLst/>
          </a:prstGeom>
        </p:spPr>
      </p:pic>
      <p:pic>
        <p:nvPicPr>
          <p:cNvPr id="25" name="Photo_Pritanjan_Baranwa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000" y="3200000"/>
            <a:ext cx="950000" cy="1100000"/>
          </a:xfrm>
          <a:prstGeom prst="rect">
            <a:avLst/>
          </a:prstGeom>
        </p:spPr>
      </p:pic>
      <p:pic>
        <p:nvPicPr>
          <p:cNvPr id="26" name="Photo_Abhay_Shukl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4000" y="3200000"/>
            <a:ext cx="950000" cy="1100000"/>
          </a:xfrm>
          <a:prstGeom prst="rect">
            <a:avLst/>
          </a:prstGeom>
        </p:spPr>
      </p:pic>
      <p:sp>
        <p:nvSpPr>
          <p:cNvPr id="30" name="Name_Priyanshu Pandey"/>
          <p:cNvSpPr/>
          <p:nvPr/>
        </p:nvSpPr>
        <p:spPr>
          <a:xfrm>
            <a:off x="200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Priyanshu Pandey</a:t>
            </a:r>
          </a:p>
        </p:txBody>
      </p:sp>
      <p:sp>
        <p:nvSpPr>
          <p:cNvPr id="31" name="Name_Lavanya Challapalli"/>
          <p:cNvSpPr/>
          <p:nvPr/>
        </p:nvSpPr>
        <p:spPr>
          <a:xfrm>
            <a:off x="1499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Lavanya Challapalli</a:t>
            </a:r>
          </a:p>
        </p:txBody>
      </p:sp>
      <p:sp>
        <p:nvSpPr>
          <p:cNvPr id="32" name="Name_Aditya Jain"/>
          <p:cNvSpPr/>
          <p:nvPr/>
        </p:nvSpPr>
        <p:spPr>
          <a:xfrm>
            <a:off x="2798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Aditya Jain</a:t>
            </a:r>
          </a:p>
        </p:txBody>
      </p:sp>
      <p:sp>
        <p:nvSpPr>
          <p:cNvPr id="33" name="Name_Ishika Singh"/>
          <p:cNvSpPr/>
          <p:nvPr/>
        </p:nvSpPr>
        <p:spPr>
          <a:xfrm>
            <a:off x="4097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Ishika Singh</a:t>
            </a:r>
          </a:p>
        </p:txBody>
      </p:sp>
      <p:sp>
        <p:nvSpPr>
          <p:cNvPr id="34" name="Name_Shubham Pandey"/>
          <p:cNvSpPr/>
          <p:nvPr/>
        </p:nvSpPr>
        <p:spPr>
          <a:xfrm>
            <a:off x="5396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Shubham Pandey</a:t>
            </a:r>
          </a:p>
        </p:txBody>
      </p:sp>
      <p:sp>
        <p:nvSpPr>
          <p:cNvPr id="35" name="Name_Pritanjan Baranwal"/>
          <p:cNvSpPr/>
          <p:nvPr/>
        </p:nvSpPr>
        <p:spPr>
          <a:xfrm>
            <a:off x="6695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Pritanjan Baranwal</a:t>
            </a:r>
          </a:p>
        </p:txBody>
      </p:sp>
      <p:sp>
        <p:nvSpPr>
          <p:cNvPr id="36" name="Name_Abhay Shukla"/>
          <p:cNvSpPr/>
          <p:nvPr/>
        </p:nvSpPr>
        <p:spPr>
          <a:xfrm>
            <a:off x="7994000" y="4330000"/>
            <a:ext cx="95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</a:rPr>
              <a:t>Abhay Shukla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940D58-7045-F717-90E6-0BC34DE22063}"/>
              </a:ext>
            </a:extLst>
          </p:cNvPr>
          <p:cNvSpPr txBox="1"/>
          <p:nvPr/>
        </p:nvSpPr>
        <p:spPr>
          <a:xfrm>
            <a:off x="4274320" y="9114"/>
            <a:ext cx="402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b="1" dirty="0">
                <a:solidFill>
                  <a:schemeClr val="bg1"/>
                </a:solidFill>
              </a:rPr>
              <a:t> 1-4 presented by: Aditya Jain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592B0-B5BF-4586-B579-B91A45F8F1FD}"/>
              </a:ext>
            </a:extLst>
          </p:cNvPr>
          <p:cNvSpPr txBox="1"/>
          <p:nvPr/>
        </p:nvSpPr>
        <p:spPr>
          <a:xfrm>
            <a:off x="2995011" y="1840191"/>
            <a:ext cx="221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A8D5B5"/>
                </a:solidFill>
                <a:latin typeface="Consolas" pitchFamily="49" charset="0"/>
              </a:rPr>
              <a:t>GitHub:</a:t>
            </a:r>
          </a:p>
          <a:p>
            <a:r>
              <a:rPr lang="en-US" sz="800" dirty="0">
                <a:solidFill>
                  <a:srgbClr val="A8D5B5"/>
                </a:solidFill>
                <a:latin typeface="Consolas" pitchFamily="49" charset="0"/>
              </a:rPr>
              <a:t>https://github.com/Pritanjan/</a:t>
            </a:r>
          </a:p>
          <a:p>
            <a:r>
              <a:rPr lang="en-US" sz="800" dirty="0" err="1">
                <a:solidFill>
                  <a:srgbClr val="A8D5B5"/>
                </a:solidFill>
                <a:latin typeface="Consolas" pitchFamily="49" charset="0"/>
              </a:rPr>
              <a:t>parabank_automation_capstone.git</a:t>
            </a:r>
            <a:endParaRPr lang="en-US" sz="800" dirty="0">
              <a:solidFill>
                <a:srgbClr val="A8D5B5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08159" y="4930000"/>
            <a:ext cx="537341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20000"/>
            <a:ext cx="9025128" cy="44671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86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80467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8412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25880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1325880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13258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13624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847088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" y="1847088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184708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18836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368296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2368296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28600" y="236829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24048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2889504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889504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288950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29260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410712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8600" y="3410712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28600" y="341071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" y="34472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931920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3931920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28600" y="39319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" y="396849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Framework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4453128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28600" y="4453128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28600" y="44531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" y="44897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Automated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804672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09160" y="804672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09160" y="80467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48072" y="8412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 Workflow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1325880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09160" y="1325880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09160" y="13258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48072" y="13624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9160" y="1847088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09160" y="1847088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09160" y="184708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48072" y="18836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Results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2368296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09160" y="2368296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09160" y="236829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48072" y="24048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Outcomes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09160" y="2889504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09160" y="2889504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09160" y="288950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48072" y="29260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Screenshots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09160" y="3410712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09160" y="3410712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709160" y="341071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48072" y="34472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09160" y="3931920"/>
            <a:ext cx="4251960" cy="402336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09160" y="3931920"/>
            <a:ext cx="384048" cy="4023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709160" y="39319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148072" y="396849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97" name="TextBox 896">
            <a:extLst>
              <a:ext uri="{FF2B5EF4-FFF2-40B4-BE49-F238E27FC236}">
                <a16:creationId xmlns:a16="http://schemas.microsoft.com/office/drawing/2014/main" id="{42864020-3C85-FEAF-FEA1-F436B3BA3E89}"/>
              </a:ext>
            </a:extLst>
          </p:cNvPr>
          <p:cNvSpPr txBox="1"/>
          <p:nvPr/>
        </p:nvSpPr>
        <p:spPr>
          <a:xfrm>
            <a:off x="4416552" y="346893"/>
            <a:ext cx="402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1-4 presented by: Aditya Jain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82010"/>
              </p:ext>
            </p:extLst>
          </p:nvPr>
        </p:nvGraphicFramePr>
        <p:xfrm>
          <a:off x="228601" y="566929"/>
          <a:ext cx="8352226" cy="4497157"/>
        </p:xfrm>
        <a:graphic>
          <a:graphicData uri="http://schemas.openxmlformats.org/drawingml/2006/table">
            <a:tbl>
              <a:tblPr/>
              <a:tblGrid>
                <a:gridCol w="263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/ Module Assigned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Priyanshu Pandey</a:t>
                      </a:r>
                      <a:br>
                        <a:rPr lang="en-US" sz="1000" dirty="0"/>
                      </a:b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 - CSE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priyanshurider123@gmail.com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Authentication Handling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Lavanya Challapalli</a:t>
                      </a:r>
                      <a:br>
                        <a:rPr lang="en-US" sz="1000" dirty="0"/>
                      </a:b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 - IT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challapallilavanya26@gmail.com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Account Management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Aditya Jain</a:t>
                      </a:r>
                      <a:br>
                        <a:rPr lang="en-US" sz="1000" dirty="0"/>
                      </a:b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 - CSE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adityajain29502@gmail.com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Transaction Management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Ishika Singh</a:t>
                      </a:r>
                      <a:br>
                        <a:rPr lang="en-US" sz="1000" dirty="0"/>
                      </a:b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 - ECE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ishikachauhan259@gmail.com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Payments and statements Handling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Shubham Pandey</a:t>
                      </a:r>
                      <a:br>
                        <a:rPr lang="en-US" sz="1000" dirty="0"/>
                      </a:br>
                      <a:r>
                        <a:rPr lang="en-US" sz="1000" dirty="0" err="1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</a:t>
                      </a: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 - CSE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shubhampandeysp357@gmail.com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User Profile Management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Pritanjan Baranwal</a:t>
                      </a:r>
                      <a:br>
                        <a:rPr lang="en-US" sz="1000" dirty="0"/>
                      </a:b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 - IT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pritanjanb@gmail.com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Loan Management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1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7474F"/>
                          </a:solidFill>
                          <a:latin typeface="Calibri" pitchFamily="34" charset="0"/>
                        </a:rPr>
                        <a:t>Abhay Shukla</a:t>
                      </a:r>
                      <a:br>
                        <a:rPr lang="en-US" sz="1000" dirty="0"/>
                      </a:br>
                      <a:r>
                        <a:rPr lang="en-US" sz="1000" dirty="0">
                          <a:solidFill>
                            <a:srgbClr val="00897B"/>
                          </a:solidFill>
                          <a:latin typeface="Calibri" pitchFamily="34" charset="0"/>
                        </a:rPr>
                        <a:t>B.Tech - CSE</a:t>
                      </a:r>
                      <a:br>
                        <a:rPr lang="en-US" sz="950" dirty="0"/>
                      </a:br>
                      <a:r>
                        <a:rPr lang="en-US" sz="950" dirty="0">
                          <a:solidFill>
                            <a:srgbClr val="607D8B"/>
                          </a:solidFill>
                          <a:latin typeface="Calibri" pitchFamily="34" charset="0"/>
                        </a:rPr>
                        <a:t>abhaysh1503@gmail.com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Recovery &amp; Loan Processing</a:t>
                      </a: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73152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F84731-EB30-3FEF-F1CF-E09584A0C908}"/>
              </a:ext>
            </a:extLst>
          </p:cNvPr>
          <p:cNvSpPr txBox="1"/>
          <p:nvPr/>
        </p:nvSpPr>
        <p:spPr>
          <a:xfrm>
            <a:off x="3940424" y="144518"/>
            <a:ext cx="402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1-4 presented by: Aditya Jain</a:t>
            </a:r>
          </a:p>
        </p:txBody>
      </p:sp>
      <p:sp>
        <p:nvSpPr>
          <p:cNvPr id="8" name="SlideNum">
            <a:extLst>
              <a:ext uri="{FF2B5EF4-FFF2-40B4-BE49-F238E27FC236}">
                <a16:creationId xmlns:a16="http://schemas.microsoft.com/office/drawing/2014/main" id="{B07EDF3F-E0C0-AD6F-30AA-D1DE23E475B8}"/>
              </a:ext>
            </a:extLst>
          </p:cNvPr>
          <p:cNvSpPr/>
          <p:nvPr/>
        </p:nvSpPr>
        <p:spPr>
          <a:xfrm>
            <a:off x="8508159" y="4930000"/>
            <a:ext cx="537341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32381" y="4930000"/>
            <a:ext cx="567619" cy="158636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20000"/>
            <a:ext cx="9034272" cy="457240"/>
          </a:xfrm>
          <a:prstGeom prst="rect">
            <a:avLst/>
          </a:prstGeom>
          <a:solidFill>
            <a:srgbClr val="1A6B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5303520" cy="502920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905256"/>
            <a:ext cx="5074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is a web-based banking application used for automation testing.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1481328"/>
            <a:ext cx="54864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517904"/>
            <a:ext cx="5074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automates banking workflows using Selenium WebDriver.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093976"/>
            <a:ext cx="5303520" cy="502920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2093976"/>
            <a:ext cx="54864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130552"/>
            <a:ext cx="5074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used for automation scripting.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706624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2706624"/>
            <a:ext cx="54864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743200"/>
            <a:ext cx="5074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Pytest-BDD framework is used for writing test scenarios.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319272"/>
            <a:ext cx="5303520" cy="502920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3319272"/>
            <a:ext cx="54864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355848"/>
            <a:ext cx="5074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 is used for reusable automation code.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393192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" y="393192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968496"/>
            <a:ext cx="5074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improves testing speed, accuracy, and efficiency.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1A6B7C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1371600" cy="1371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7607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</a:rPr>
              <a:t>ParaBank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6072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</a:rPr>
              <a:t>Web-Based Banking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</a:rPr>
              <a:t>Test Application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897880" y="3520440"/>
            <a:ext cx="13716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897880" y="3520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Selenium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360920" y="3520440"/>
            <a:ext cx="13716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360920" y="3520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897880" y="3959352"/>
            <a:ext cx="13716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897880" y="3959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Pytest-BDD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360920" y="3959352"/>
            <a:ext cx="13716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360920" y="3959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POM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E69444-DEBA-0F64-4921-37924578BC93}"/>
              </a:ext>
            </a:extLst>
          </p:cNvPr>
          <p:cNvSpPr txBox="1"/>
          <p:nvPr/>
        </p:nvSpPr>
        <p:spPr>
          <a:xfrm>
            <a:off x="3933792" y="325885"/>
            <a:ext cx="402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1-4 presented by: Aditya Jain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362824" y="4930000"/>
            <a:ext cx="737176" cy="2135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283464"/>
            <a:ext cx="9144000" cy="5120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54864"/>
            <a:ext cx="86868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886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Repetitive &amp; Time-Consuming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2344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Manual testing requires repeated effort for every release cycle.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822960"/>
            <a:ext cx="420624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14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886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Regression Testing Burden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0" y="12344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Regression testing demands repeated execution — prone to being skipped.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28600" y="2194560"/>
            <a:ext cx="420624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286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258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Human Error Risk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14400" y="26060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Human errors may occur during repetitive and monotonous testing tasks.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194560"/>
            <a:ext cx="420624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2860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258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Complex Workflow Management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0" y="26060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Managing multi-step banking workflows manually is difficult and error-prone.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0" y="3474720"/>
            <a:ext cx="36576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35661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37560" y="35387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Need for Faster, Reliable Testing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37560" y="3840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Faster, accurate, and repeatable testing is essential for quality banking applications.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67AB22-4F58-D555-82C0-097A5F8AD7C5}"/>
              </a:ext>
            </a:extLst>
          </p:cNvPr>
          <p:cNvSpPr txBox="1"/>
          <p:nvPr/>
        </p:nvSpPr>
        <p:spPr>
          <a:xfrm>
            <a:off x="4099661" y="310704"/>
            <a:ext cx="443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5-6 presented by: Priyanshu Pandey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02103" y="4930000"/>
            <a:ext cx="597897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6/19</a:t>
            </a:r>
          </a:p>
        </p:txBody>
      </p:sp>
      <p:sp>
        <p:nvSpPr>
          <p:cNvPr id="2" name="Title"/>
          <p:cNvSpPr/>
          <p:nvPr/>
        </p:nvSpPr>
        <p:spPr>
          <a:xfrm>
            <a:off x="274320" y="330000"/>
            <a:ext cx="8595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Objectives</a:t>
            </a:r>
          </a:p>
        </p:txBody>
      </p:sp>
      <p:sp>
        <p:nvSpPr>
          <p:cNvPr id="50" name="ObjCard_50"/>
          <p:cNvSpPr/>
          <p:nvPr/>
        </p:nvSpPr>
        <p:spPr>
          <a:xfrm>
            <a:off x="322000" y="720000"/>
            <a:ext cx="4100000" cy="110000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9050">
            <a:solidFill>
              <a:srgbClr val="00897B"/>
            </a:solidFill>
          </a:ln>
        </p:spPr>
        <p:txBody>
          <a:bodyPr wrap="square" lIns="100000" tIns="80000" rIns="100000" bIns="800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</a:rPr>
              <a:t>🏦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End-to-End Automation</a:t>
            </a:r>
            <a:br>
              <a:rPr lang="en-US" sz="1100" dirty="0"/>
            </a:br>
            <a:r>
              <a:rPr lang="en-US" sz="1100" dirty="0">
                <a:solidFill>
                  <a:srgbClr val="90A4AE"/>
                </a:solidFill>
                <a:latin typeface="Calibri" pitchFamily="34" charset="0"/>
              </a:rPr>
              <a:t>Automate major banking functionalities end-to-end.</a:t>
            </a:r>
          </a:p>
        </p:txBody>
      </p:sp>
      <p:sp>
        <p:nvSpPr>
          <p:cNvPr id="52" name="ObjCard_52"/>
          <p:cNvSpPr/>
          <p:nvPr/>
        </p:nvSpPr>
        <p:spPr>
          <a:xfrm>
            <a:off x="4722000" y="720000"/>
            <a:ext cx="4100000" cy="110000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9050">
            <a:solidFill>
              <a:srgbClr val="00897B"/>
            </a:solidFill>
          </a:ln>
        </p:spPr>
        <p:txBody>
          <a:bodyPr wrap="square" lIns="100000" tIns="80000" rIns="100000" bIns="800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</a:rPr>
              <a:t>🐍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Selenium with Python</a:t>
            </a:r>
            <a:br>
              <a:rPr lang="en-US" sz="1100" dirty="0"/>
            </a:br>
            <a:r>
              <a:rPr lang="en-US" sz="1100" dirty="0">
                <a:solidFill>
                  <a:srgbClr val="90A4AE"/>
                </a:solidFill>
                <a:latin typeface="Calibri" pitchFamily="34" charset="0"/>
              </a:rPr>
              <a:t>Implement Selenium automation scripting using Python.</a:t>
            </a:r>
          </a:p>
        </p:txBody>
      </p:sp>
      <p:sp>
        <p:nvSpPr>
          <p:cNvPr id="54" name="ObjCard_54"/>
          <p:cNvSpPr/>
          <p:nvPr/>
        </p:nvSpPr>
        <p:spPr>
          <a:xfrm>
            <a:off x="322000" y="2020000"/>
            <a:ext cx="4100000" cy="110000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9050">
            <a:solidFill>
              <a:srgbClr val="00897B"/>
            </a:solidFill>
          </a:ln>
        </p:spPr>
        <p:txBody>
          <a:bodyPr wrap="square" lIns="100000" tIns="80000" rIns="100000" bIns="800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</a:rPr>
              <a:t>🧪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Pytest-BDD Framework</a:t>
            </a:r>
            <a:br>
              <a:rPr lang="en-US" sz="1100" dirty="0"/>
            </a:br>
            <a:r>
              <a:rPr lang="en-US" sz="1100" dirty="0">
                <a:solidFill>
                  <a:srgbClr val="90A4AE"/>
                </a:solidFill>
                <a:latin typeface="Calibri" pitchFamily="34" charset="0"/>
              </a:rPr>
              <a:t>Use Pytest-BDD framework for behavior-driven test scenarios.</a:t>
            </a:r>
          </a:p>
        </p:txBody>
      </p:sp>
      <p:sp>
        <p:nvSpPr>
          <p:cNvPr id="56" name="ObjCard_56"/>
          <p:cNvSpPr/>
          <p:nvPr/>
        </p:nvSpPr>
        <p:spPr>
          <a:xfrm>
            <a:off x="4722000" y="2020000"/>
            <a:ext cx="4100000" cy="110000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9050">
            <a:solidFill>
              <a:srgbClr val="00897B"/>
            </a:solidFill>
          </a:ln>
        </p:spPr>
        <p:txBody>
          <a:bodyPr wrap="square" lIns="100000" tIns="80000" rIns="100000" bIns="800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</a:rPr>
              <a:t>📐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Page Object Model</a:t>
            </a:r>
            <a:br>
              <a:rPr lang="en-US" sz="1100" dirty="0"/>
            </a:br>
            <a:r>
              <a:rPr lang="en-US" sz="1100" dirty="0">
                <a:solidFill>
                  <a:srgbClr val="90A4AE"/>
                </a:solidFill>
                <a:latin typeface="Calibri" pitchFamily="34" charset="0"/>
              </a:rPr>
              <a:t>Follow Page Object Model (POM) design pattern.</a:t>
            </a:r>
          </a:p>
        </p:txBody>
      </p:sp>
      <p:sp>
        <p:nvSpPr>
          <p:cNvPr id="58" name="ObjCard_58"/>
          <p:cNvSpPr/>
          <p:nvPr/>
        </p:nvSpPr>
        <p:spPr>
          <a:xfrm>
            <a:off x="322000" y="3320000"/>
            <a:ext cx="4100000" cy="110000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9050">
            <a:solidFill>
              <a:srgbClr val="00897B"/>
            </a:solidFill>
          </a:ln>
        </p:spPr>
        <p:txBody>
          <a:bodyPr wrap="square" lIns="100000" tIns="80000" rIns="100000" bIns="800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</a:rPr>
              <a:t>✅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Test Scenarios</a:t>
            </a:r>
            <a:br>
              <a:rPr lang="en-US" sz="1100" dirty="0"/>
            </a:br>
            <a:r>
              <a:rPr lang="en-US" sz="1100" dirty="0">
                <a:solidFill>
                  <a:srgbClr val="90A4AE"/>
                </a:solidFill>
                <a:latin typeface="Calibri" pitchFamily="34" charset="0"/>
              </a:rPr>
              <a:t>Validate positive and negative test scenarios.</a:t>
            </a:r>
          </a:p>
        </p:txBody>
      </p:sp>
      <p:sp>
        <p:nvSpPr>
          <p:cNvPr id="60" name="ObjCard_60"/>
          <p:cNvSpPr/>
          <p:nvPr/>
        </p:nvSpPr>
        <p:spPr>
          <a:xfrm>
            <a:off x="4722000" y="3320000"/>
            <a:ext cx="4100000" cy="110000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9050">
            <a:solidFill>
              <a:srgbClr val="00897B"/>
            </a:solidFill>
          </a:ln>
        </p:spPr>
        <p:txBody>
          <a:bodyPr wrap="square" lIns="100000" tIns="80000" rIns="100000" bIns="800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</a:rPr>
              <a:t>📊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HTML Reports</a:t>
            </a:r>
            <a:br>
              <a:rPr lang="en-US" sz="1100" dirty="0"/>
            </a:br>
            <a:r>
              <a:rPr lang="en-US" sz="1100" dirty="0">
                <a:solidFill>
                  <a:srgbClr val="90A4AE"/>
                </a:solidFill>
                <a:latin typeface="Calibri" pitchFamily="34" charset="0"/>
              </a:rPr>
              <a:t>Generate HTML reports for test execution tracking.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77DB3-425B-8B82-1102-0D9CDC1243A5}"/>
              </a:ext>
            </a:extLst>
          </p:cNvPr>
          <p:cNvSpPr txBox="1"/>
          <p:nvPr/>
        </p:nvSpPr>
        <p:spPr>
          <a:xfrm>
            <a:off x="3990660" y="-33276"/>
            <a:ext cx="445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5-6 presented by: Priyanshu Pandey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14215" y="4930000"/>
            <a:ext cx="585785" cy="2135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" y="307131"/>
            <a:ext cx="9034272" cy="497541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54864" cy="914400"/>
          </a:xfrm>
          <a:prstGeom prst="rect">
            <a:avLst/>
          </a:prstGeom>
          <a:solidFill>
            <a:srgbClr val="3572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83464" y="804672"/>
            <a:ext cx="13716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503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55064" y="804672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37360" y="85039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 for automation scripting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54864" cy="914400"/>
          </a:xfrm>
          <a:prstGeom prst="rect">
            <a:avLst/>
          </a:prstGeom>
          <a:solidFill>
            <a:srgbClr val="43B0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64024" y="804672"/>
            <a:ext cx="13716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8503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804672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85039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— simulates real user interactions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82880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1828800"/>
            <a:ext cx="54864" cy="914400"/>
          </a:xfrm>
          <a:prstGeom prst="rect">
            <a:avLst/>
          </a:prstGeom>
          <a:solidFill>
            <a:srgbClr val="0A9E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83464" y="1828800"/>
            <a:ext cx="13716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55064" y="1828800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73736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engine and test runner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54864" cy="914400"/>
          </a:xfrm>
          <a:prstGeom prst="rect">
            <a:avLst/>
          </a:prstGeom>
          <a:solidFill>
            <a:srgbClr val="5A4F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64024" y="1828800"/>
            <a:ext cx="1371600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484632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Pytest-BDD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35624" y="1828800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17920" y="1874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Driven Development framework for test scenarios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285292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2852928"/>
            <a:ext cx="54864" cy="9144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83464" y="2852928"/>
            <a:ext cx="13716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28986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55064" y="2852928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737360" y="289864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for reusable and maintainable automation code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85292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2852928"/>
            <a:ext cx="54864" cy="914400"/>
          </a:xfrm>
          <a:prstGeom prst="rect">
            <a:avLst/>
          </a:prstGeom>
          <a:solidFill>
            <a:srgbClr val="E8A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64024" y="2852928"/>
            <a:ext cx="13716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28986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35624" y="2852928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17920" y="289864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browser driver for Selenium automation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3877056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28600" y="3877056"/>
            <a:ext cx="54864" cy="9144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83464" y="3877056"/>
            <a:ext cx="13716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3922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655064" y="3877056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737360" y="392277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collaborative code management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877056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09160" y="3877056"/>
            <a:ext cx="54864" cy="914400"/>
          </a:xfrm>
          <a:prstGeom prst="rect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64024" y="3877056"/>
            <a:ext cx="13716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46320" y="3922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35624" y="3877056"/>
            <a:ext cx="13716" cy="914400"/>
          </a:xfrm>
          <a:prstGeom prst="rect">
            <a:avLst/>
          </a:prstGeom>
          <a:solidFill>
            <a:srgbClr val="D0DD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17920" y="392277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results and test report generation via pytest-html</a:t>
            </a:r>
            <a:endParaRPr 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B1498D-9CE9-259B-7ED5-174A83DBC695}"/>
              </a:ext>
            </a:extLst>
          </p:cNvPr>
          <p:cNvSpPr txBox="1"/>
          <p:nvPr/>
        </p:nvSpPr>
        <p:spPr>
          <a:xfrm>
            <a:off x="3960381" y="326914"/>
            <a:ext cx="4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7-8 presented </a:t>
            </a:r>
            <a:r>
              <a:rPr lang="en-IN" dirty="0" err="1">
                <a:solidFill>
                  <a:schemeClr val="bg1"/>
                </a:solidFill>
              </a:rPr>
              <a:t>by:Challapalli</a:t>
            </a:r>
            <a:r>
              <a:rPr lang="en-IN" dirty="0">
                <a:solidFill>
                  <a:schemeClr val="bg1"/>
                </a:solidFill>
              </a:rPr>
              <a:t> Lavanya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465770" y="4930000"/>
            <a:ext cx="634230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8/19</a:t>
            </a:r>
          </a:p>
        </p:txBody>
      </p:sp>
      <p:sp>
        <p:nvSpPr>
          <p:cNvPr id="3" name="Title"/>
          <p:cNvSpPr/>
          <p:nvPr/>
        </p:nvSpPr>
        <p:spPr>
          <a:xfrm>
            <a:off x="274320" y="330000"/>
            <a:ext cx="859536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Project Structure</a:t>
            </a:r>
          </a:p>
        </p:txBody>
      </p:sp>
      <p:sp>
        <p:nvSpPr>
          <p:cNvPr id="50" name="Code_50"/>
          <p:cNvSpPr/>
          <p:nvPr/>
        </p:nvSpPr>
        <p:spPr>
          <a:xfrm>
            <a:off x="252000" y="750000"/>
            <a:ext cx="2800000" cy="4200000"/>
          </a:xfrm>
          <a:prstGeom prst="rect">
            <a:avLst/>
          </a:prstGeom>
          <a:solidFill>
            <a:srgbClr val="111827"/>
          </a:solidFill>
          <a:ln>
            <a:solidFill>
              <a:srgbClr val="1E4D2B"/>
            </a:solidFill>
          </a:ln>
        </p:spPr>
        <p:txBody>
          <a:bodyPr wrap="square" lIns="60000" tIns="60000" rIns="60000" bIns="6000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Parabank_Automation_Capstone/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features/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login.feature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logout.feature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open_new_account.feature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accounts_overview.feature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transfer_funds.feature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account_balance.feature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bill_payment.feature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transaction_history.feature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find_transactions.feature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registration.feature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update_contact_information.feature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loan_approval.feature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loan_rejection.feature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dashboard.feature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└── forget_login_info.feature</a:t>
            </a:r>
          </a:p>
        </p:txBody>
      </p:sp>
      <p:sp>
        <p:nvSpPr>
          <p:cNvPr id="51" name="Code_51"/>
          <p:cNvSpPr/>
          <p:nvPr/>
        </p:nvSpPr>
        <p:spPr>
          <a:xfrm>
            <a:off x="3172000" y="750000"/>
            <a:ext cx="2800000" cy="4200000"/>
          </a:xfrm>
          <a:prstGeom prst="rect">
            <a:avLst/>
          </a:prstGeom>
          <a:solidFill>
            <a:srgbClr val="111827"/>
          </a:solidFill>
          <a:ln>
            <a:solidFill>
              <a:srgbClr val="1E4D2B"/>
            </a:solidFill>
          </a:ln>
        </p:spPr>
        <p:txBody>
          <a:bodyPr wrap="square" lIns="60000" tIns="60000" rIns="60000" bIns="6000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pages/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base_page.py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login_page.py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logout_page.py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open_new_account_page.py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accounts_overview_page.py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transfer_funds_page.py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bill_payment_page.py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transaction_history_page.py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find_transactions_page.py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registration_page.py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update_contact_page.py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dashboard_page.py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loan_request.py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loan_approval_page.py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└── forget_login_info.py</a:t>
            </a:r>
          </a:p>
        </p:txBody>
      </p:sp>
      <p:sp>
        <p:nvSpPr>
          <p:cNvPr id="52" name="Code_52"/>
          <p:cNvSpPr/>
          <p:nvPr/>
        </p:nvSpPr>
        <p:spPr>
          <a:xfrm>
            <a:off x="6092000" y="762112"/>
            <a:ext cx="2800000" cy="4200000"/>
          </a:xfrm>
          <a:prstGeom prst="rect">
            <a:avLst/>
          </a:prstGeom>
          <a:solidFill>
            <a:srgbClr val="111827"/>
          </a:solidFill>
          <a:ln>
            <a:solidFill>
              <a:srgbClr val="1E4D2B"/>
            </a:solidFill>
          </a:ln>
        </p:spPr>
        <p:txBody>
          <a:bodyPr wrap="square" lIns="60000" tIns="60000" rIns="60000" bIns="6000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tests/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test_login_steps.py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test_logout_steps.py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test_open_new_account_steps.py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test_accounts_overview.py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test_transfer_fund.py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test_account_balance_steps.py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test_bill_payment_steps.py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test_transaction_history_steps.py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find_transactions_steps.py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test_registration.py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test_update_contact_steps.py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test_dashboard.py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test_loan_application.py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test_loan_approval.py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test_loan_request.py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└── test_forget_login_info.py</a:t>
            </a:r>
          </a:p>
          <a:p>
            <a:pPr marL="0" indent="0" algn="l">
              <a:buNone/>
            </a:pPr>
            <a:endParaRPr lang="en-US" sz="700" dirty="0">
              <a:solidFill>
                <a:srgbClr val="A8D5B5"/>
              </a:solidFill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reports/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├── screenshots/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   └── html_reports/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│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requirements.txt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pytest.ini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├── conftest.py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└── README</a:t>
            </a:r>
          </a:p>
          <a:p>
            <a:pPr marL="0" indent="0" algn="l">
              <a:buNone/>
            </a:pPr>
            <a:endParaRPr lang="en-US" sz="700" dirty="0">
              <a:solidFill>
                <a:srgbClr val="A8D5B5"/>
              </a:solidFill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GitHub: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https://github.com/Pritanjan/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A8D5B5"/>
                </a:solidFill>
                <a:latin typeface="Consolas" pitchFamily="49" charset="0"/>
              </a:rPr>
              <a:t>parabank_automation_capstone.git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A8BCF-EF96-5280-1B3E-C048F608ED89}"/>
              </a:ext>
            </a:extLst>
          </p:cNvPr>
          <p:cNvSpPr txBox="1"/>
          <p:nvPr/>
        </p:nvSpPr>
        <p:spPr>
          <a:xfrm>
            <a:off x="3960381" y="326914"/>
            <a:ext cx="4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7-8 presented by: </a:t>
            </a:r>
            <a:r>
              <a:rPr lang="en-IN" dirty="0" err="1">
                <a:solidFill>
                  <a:schemeClr val="bg1"/>
                </a:solidFill>
              </a:rPr>
              <a:t>Challapalli</a:t>
            </a:r>
            <a:r>
              <a:rPr lang="en-IN" dirty="0">
                <a:solidFill>
                  <a:schemeClr val="bg1"/>
                </a:solidFill>
              </a:rPr>
              <a:t> Lavanya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459714" y="4930000"/>
            <a:ext cx="640286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488" y="310896"/>
            <a:ext cx="9034272" cy="42976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90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Framework — Behavior Driven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34656" y="77724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</a:rPr>
              <a:t>What is BDD?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= Behavior Driven 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007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test cases in simple readable language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use Given / When / Then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3977640" cy="21945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 Functionality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986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 Login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5387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Given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is on login page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587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enters valid credentials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1788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should login successfully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4160520" cy="475488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17720" y="8046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128016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897B"/>
                </a:solidFill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1517904"/>
            <a:ext cx="4160520" cy="475488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17720" y="15179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Definition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99339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897B"/>
                </a:solidFill>
              </a:rPr>
              <a:t>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17720" y="2231136"/>
            <a:ext cx="4160520" cy="475488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17720" y="22311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Object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270662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897B"/>
                </a:solidFill>
              </a:rPr>
              <a:t>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2944368"/>
            <a:ext cx="4160520" cy="475488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17720" y="29443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Selenium Actions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41985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897B"/>
                </a:solidFill>
              </a:rPr>
              <a:t>▼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17720" y="3657600"/>
            <a:ext cx="4160520" cy="475488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17720" y="36576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readability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599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scenarios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4599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steps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BC4762-E729-DDE7-27E1-B1B36B6296D3}"/>
              </a:ext>
            </a:extLst>
          </p:cNvPr>
          <p:cNvSpPr txBox="1"/>
          <p:nvPr/>
        </p:nvSpPr>
        <p:spPr>
          <a:xfrm>
            <a:off x="3778712" y="-38362"/>
            <a:ext cx="4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9-10 presented by: Ishika Singh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453658" y="4930000"/>
            <a:ext cx="646342" cy="2135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06324"/>
            <a:ext cx="9025128" cy="4617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Automated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834640" cy="4754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8321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325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6642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002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3408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Login Information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77724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200400" y="777240"/>
            <a:ext cx="2834640" cy="4754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8229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0752" y="8321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Account Management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37560" y="1325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New Account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16642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Overview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2002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77724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172200" y="777240"/>
            <a:ext cx="2834640" cy="47548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82296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02552" y="8321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09360" y="1325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09360" y="16642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09360" y="2002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09360" y="23408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Transactions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28600" y="288036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228600" y="2880360"/>
            <a:ext cx="2834640" cy="47548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92608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8952" y="29352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Management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36576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3767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Contact Information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200400" y="288036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3200400" y="2880360"/>
            <a:ext cx="2834640" cy="475488"/>
          </a:xfrm>
          <a:prstGeom prst="rect">
            <a:avLst/>
          </a:prstGeom>
          <a:solidFill>
            <a:srgbClr val="558B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926080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30752" y="29352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Loan Module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33756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37560" y="3767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337560" y="41056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Rejection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172200" y="288036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5"/>
          <p:cNvSpPr/>
          <p:nvPr/>
        </p:nvSpPr>
        <p:spPr>
          <a:xfrm>
            <a:off x="6172200" y="2880360"/>
            <a:ext cx="2834640" cy="475488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926080"/>
            <a:ext cx="384048" cy="38404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02552" y="29352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30936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Validation</a:t>
            </a:r>
            <a:endParaRPr 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17330F-9E8A-C507-A896-FD647FF883BD}"/>
              </a:ext>
            </a:extLst>
          </p:cNvPr>
          <p:cNvSpPr txBox="1"/>
          <p:nvPr/>
        </p:nvSpPr>
        <p:spPr>
          <a:xfrm>
            <a:off x="3778712" y="-38362"/>
            <a:ext cx="4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9-10 presented by: Ishika Singh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20270" y="4930000"/>
            <a:ext cx="579730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320000"/>
            <a:ext cx="9144000" cy="548640"/>
          </a:xfrm>
          <a:prstGeom prst="rect">
            <a:avLst/>
          </a:prstGeom>
          <a:solidFill>
            <a:srgbClr val="1A6B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54864"/>
            <a:ext cx="8686800" cy="104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00200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024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508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File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" y="2697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Test scenarios written in Gherkin (Given/When/Then)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83080" y="1463040"/>
            <a:ext cx="18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965960" y="914400"/>
            <a:ext cx="1600200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02412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1508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Definition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874520" y="2697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Python functions that map to Gherkin scenario steps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66160" y="1463040"/>
            <a:ext cx="18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749040" y="914400"/>
            <a:ext cx="1600200" cy="1691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02412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1508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Object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657600" y="2697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Page classes containing web element locators &amp; methods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349240" y="1463040"/>
            <a:ext cx="18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5532120" y="914400"/>
            <a:ext cx="1600200" cy="1691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102412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1508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Selenium Actions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40680" y="2697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Browser interactions — click, type, navigate, verify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132320" y="1463040"/>
            <a:ext cx="18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7315200" y="914400"/>
            <a:ext cx="1600200" cy="169164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102412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1508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223760" y="2697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pytest-html reports with pass/fail results &amp; screenshots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228600" y="4297680"/>
            <a:ext cx="8686800" cy="5943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CD4"/>
                </a:solidFill>
              </a:rPr>
              <a:t>Each layer has a single responsibility — keeping the framework modular, readable, and easy to maintain.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C07D49-896E-9C48-9C9D-29707BF57521}"/>
              </a:ext>
            </a:extLst>
          </p:cNvPr>
          <p:cNvSpPr txBox="1"/>
          <p:nvPr/>
        </p:nvSpPr>
        <p:spPr>
          <a:xfrm>
            <a:off x="3778712" y="-38362"/>
            <a:ext cx="4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11-12 presented by: Shubham Pandey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70429" y="4930000"/>
            <a:ext cx="507062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11404"/>
            <a:ext cx="9034272" cy="55723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Files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(Step Definitions)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645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97B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286000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Objects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(Locators &amp; Methods)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645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97B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286000" cy="118872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Application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(Browser Elements)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8686800" cy="393192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8036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2852928"/>
            <a:ext cx="8138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page classes created for each screen — improves reusability.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8600" y="3273552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1927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" y="3291840"/>
            <a:ext cx="8138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elements and methods are managed inside dedicated page files.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28600" y="3712464"/>
            <a:ext cx="8686800" cy="393192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5818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" y="3730752"/>
            <a:ext cx="8138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readability and framework maintenance.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28600" y="4151376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97096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" y="4169664"/>
            <a:ext cx="8138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code duplication across test cases.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28600" y="4590288"/>
            <a:ext cx="8552062" cy="339712"/>
          </a:xfrm>
          <a:prstGeom prst="rect">
            <a:avLst/>
          </a:prstGeom>
          <a:solidFill>
            <a:srgbClr val="DDEEFF"/>
          </a:solidFill>
          <a:ln w="12700">
            <a:solidFill>
              <a:srgbClr val="C5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3600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608576"/>
            <a:ext cx="7884629" cy="339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framework scalable as more features are added.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9F8E6-FBD7-3171-F6C0-68B39D6672A3}"/>
              </a:ext>
            </a:extLst>
          </p:cNvPr>
          <p:cNvSpPr txBox="1"/>
          <p:nvPr/>
        </p:nvSpPr>
        <p:spPr>
          <a:xfrm>
            <a:off x="3778712" y="-38362"/>
            <a:ext cx="4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11-12 presented by: Shubham Pandey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302268" y="4930000"/>
            <a:ext cx="797732" cy="14492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10896"/>
            <a:ext cx="9034272" cy="44348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1168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44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Total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1168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3160" y="914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43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Passed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2011680" cy="1463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1772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Failed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822960"/>
            <a:ext cx="2011680" cy="1463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12280" y="914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81228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Errors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916" y="2468880"/>
            <a:ext cx="41605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4871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✓  Pass Rate: 97.7%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28600" y="3236976"/>
            <a:ext cx="416052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004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</a:rPr>
              <a:t>⚠  Note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0040" y="356616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case failed due to a fixture-related validation issue during execution. All remaining 43 workflows executed successfully.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Environment: Python 3.14.4  |  </a:t>
            </a:r>
            <a:r>
              <a:rPr lang="en-US" sz="1000" dirty="0" err="1">
                <a:solidFill>
                  <a:srgbClr val="90A4AE"/>
                </a:solidFill>
              </a:rPr>
              <a:t>pytest</a:t>
            </a:r>
            <a:r>
              <a:rPr lang="en-US" sz="1000" dirty="0">
                <a:solidFill>
                  <a:srgbClr val="90A4AE"/>
                </a:solidFill>
              </a:rPr>
              <a:t> 9.0.3  |  Windows 11  |  Report generated: 21-May-2026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106FE-E104-E7EA-D569-36EF6D769B66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13-14 presented by: </a:t>
            </a:r>
            <a:r>
              <a:rPr lang="en-IN" dirty="0" err="1">
                <a:solidFill>
                  <a:schemeClr val="bg1"/>
                </a:solidFill>
              </a:rPr>
              <a:t>Pritanjan</a:t>
            </a:r>
            <a:r>
              <a:rPr lang="en-IN" dirty="0">
                <a:solidFill>
                  <a:schemeClr val="bg1"/>
                </a:solidFill>
              </a:rPr>
              <a:t> Baranwal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62660" y="4930000"/>
            <a:ext cx="537340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14/19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19348"/>
            <a:ext cx="9034272" cy="4572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976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Successful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429768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28930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2527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logout functionalities executed successfully.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8600" y="1737360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9222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17556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 creation validated successfully.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28600" y="2240280"/>
            <a:ext cx="429768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2951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22585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 and balance updates verified.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228600" y="2743200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79806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" y="27614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 workflows executed correctly.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228600" y="3246120"/>
            <a:ext cx="429768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300984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" y="32644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and rejection validations completed successfully.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228600" y="3749040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803904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" y="37673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transaction history validations passed.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709160" y="777240"/>
            <a:ext cx="4206240" cy="4114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Framework Outcomes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709160" y="1234440"/>
            <a:ext cx="420624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298448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12080" y="12618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automation framework implemented using POM.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4709160" y="182880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892808"/>
            <a:ext cx="347472" cy="3474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12080" y="18562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scenarios executed using Pytest-BDD.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4709160" y="2423160"/>
            <a:ext cx="420624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87168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212080" y="24505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 generated successfully.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4709160" y="30175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081528"/>
            <a:ext cx="347472" cy="34747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212080" y="30449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 reduced manual testing effort.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4709160" y="3749040"/>
            <a:ext cx="42062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8"/>
          <p:cNvSpPr/>
          <p:nvPr/>
        </p:nvSpPr>
        <p:spPr>
          <a:xfrm>
            <a:off x="4709160" y="3749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CD4"/>
                </a:solidFill>
              </a:rPr>
              <a:t>43</a:t>
            </a:r>
            <a:endParaRPr lang="en-US" sz="4200" dirty="0"/>
          </a:p>
        </p:txBody>
      </p:sp>
      <p:sp>
        <p:nvSpPr>
          <p:cNvPr id="41" name="Text 29"/>
          <p:cNvSpPr/>
          <p:nvPr/>
        </p:nvSpPr>
        <p:spPr>
          <a:xfrm>
            <a:off x="5806440" y="3886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Test Cases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Automated Successfully</a:t>
            </a:r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4BE147-B938-3C74-AEC2-C14DC42390E3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13-14 presented by: </a:t>
            </a:r>
            <a:r>
              <a:rPr lang="en-IN" dirty="0" err="1">
                <a:solidFill>
                  <a:schemeClr val="bg1"/>
                </a:solidFill>
              </a:rPr>
              <a:t>Pritanjan</a:t>
            </a:r>
            <a:r>
              <a:rPr lang="en-IN" dirty="0">
                <a:solidFill>
                  <a:schemeClr val="bg1"/>
                </a:solidFill>
              </a:rPr>
              <a:t> Baranwal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290156" y="4930000"/>
            <a:ext cx="809844" cy="28196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20000"/>
            <a:ext cx="9025128" cy="42968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85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Screenshots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869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14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generated using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0332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pytest-html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9144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plugin — auto-generates structured test results after every run.</a:t>
            </a:r>
            <a:endParaRPr lang="en-US" sz="1300" dirty="0"/>
          </a:p>
        </p:txBody>
      </p:sp>
      <p:sp>
        <p:nvSpPr>
          <p:cNvPr id="50" name="Text 50"/>
          <p:cNvSpPr/>
          <p:nvPr/>
        </p:nvSpPr>
        <p:spPr>
          <a:xfrm>
            <a:off x="22860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</a:rPr>
              <a:t>Report Summary View</a:t>
            </a:r>
            <a:endParaRPr lang="en-US" sz="1000" dirty="0"/>
          </a:p>
        </p:txBody>
      </p:sp>
      <p:sp>
        <p:nvSpPr>
          <p:cNvPr id="51" name="Text 51"/>
          <p:cNvSpPr/>
          <p:nvPr/>
        </p:nvSpPr>
        <p:spPr>
          <a:xfrm>
            <a:off x="470916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</a:rPr>
              <a:t>Test Case Results Detail</a:t>
            </a:r>
            <a:endParaRPr lang="en-US" sz="1000" dirty="0"/>
          </a:p>
        </p:txBody>
      </p:sp>
      <p:sp>
        <p:nvSpPr>
          <p:cNvPr id="52" name="Text 52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★ Full HTML report contains all 44 test case results with duration and environment metadata.</a:t>
            </a:r>
            <a:endParaRPr lang="en-US" sz="1000" dirty="0"/>
          </a:p>
        </p:txBody>
      </p:sp>
      <p:pic>
        <p:nvPicPr>
          <p:cNvPr id="53" name="Image 53" descr="screensho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66080"/>
            <a:ext cx="4206240" cy="2743200"/>
          </a:xfrm>
          <a:prstGeom prst="rect">
            <a:avLst/>
          </a:prstGeom>
        </p:spPr>
      </p:pic>
      <p:pic>
        <p:nvPicPr>
          <p:cNvPr id="54" name="Image 54" descr="screensho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966080"/>
            <a:ext cx="4206240" cy="2743200"/>
          </a:xfrm>
          <a:prstGeom prst="rect">
            <a:avLst/>
          </a:prstGeom>
        </p:spPr>
      </p:pic>
      <p:sp>
        <p:nvSpPr>
          <p:cNvPr id="200" name="PassedStat"/>
          <p:cNvSpPr/>
          <p:nvPr/>
        </p:nvSpPr>
        <p:spPr>
          <a:xfrm>
            <a:off x="3142024" y="1656560"/>
            <a:ext cx="1292816" cy="164240"/>
          </a:xfrm>
          <a:prstGeom prst="roundRect">
            <a:avLst>
              <a:gd name="adj" fmla="val 20000"/>
            </a:avLst>
          </a:prstGeom>
          <a:solidFill>
            <a:srgbClr val="1B5E20"/>
          </a:solidFill>
          <a:ln>
            <a:solidFill>
              <a:srgbClr val="2E7D32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</a:rPr>
              <a:t>✓ Passed: 43</a:t>
            </a:r>
          </a:p>
        </p:txBody>
      </p:sp>
      <p:sp>
        <p:nvSpPr>
          <p:cNvPr id="201" name="FailedStat"/>
          <p:cNvSpPr/>
          <p:nvPr/>
        </p:nvSpPr>
        <p:spPr>
          <a:xfrm>
            <a:off x="4553712" y="1656560"/>
            <a:ext cx="1036320" cy="172240"/>
          </a:xfrm>
          <a:prstGeom prst="roundRect">
            <a:avLst>
              <a:gd name="adj" fmla="val 20000"/>
            </a:avLst>
          </a:prstGeom>
          <a:solidFill>
            <a:srgbClr val="7F0000"/>
          </a:solidFill>
          <a:ln>
            <a:solidFill>
              <a:srgbClr val="B71C1C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</a:rPr>
              <a:t>✗ Failed: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FC833-0407-6FB8-5B50-BBFC5F28D8F1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15-19 presented by: Abhay Shukla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399158" y="4930000"/>
            <a:ext cx="700842" cy="2135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16/19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20000"/>
            <a:ext cx="9034272" cy="45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92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59469"/>
              </p:ext>
            </p:extLst>
          </p:nvPr>
        </p:nvGraphicFramePr>
        <p:xfrm>
          <a:off x="228600" y="777240"/>
          <a:ext cx="8595360" cy="4152762"/>
        </p:xfrm>
        <a:graphic>
          <a:graphicData uri="http://schemas.openxmlformats.org/drawingml/2006/table">
            <a:tbl>
              <a:tblPr/>
              <a:tblGrid>
                <a:gridCol w="380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5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21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Implemented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element loading delays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WebDriverWait for dynamic element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Synchronization issues between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explicit waits across all page interactions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code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Page Object Model (POM) design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conflicts across 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parameterized and dynamic test data strategies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generation and test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detailed HTML reports via pytest-html plugin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18812F-E8A6-29E1-B535-E6A42CF9CDC6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15-19 presented by: Abhay Shukla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544493" y="4930000"/>
            <a:ext cx="555507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17/19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316160"/>
            <a:ext cx="9034272" cy="45969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95360" cy="93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59536"/>
            <a:ext cx="347472" cy="34747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859536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82296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Selenium automation using Python and Pytest-BDD for a real banking application.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" y="1389888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444752"/>
            <a:ext cx="347472" cy="34747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44752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" y="1408176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importance of Page Object Model (POM) for reusable and maintainable automation code.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228600" y="1975104"/>
            <a:ext cx="868680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29968"/>
            <a:ext cx="347472" cy="34747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029968"/>
            <a:ext cx="347472" cy="34747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9808" y="19933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automate real-time banking workflows including login, fund transfer, loans, and more.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228600" y="256032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615184"/>
            <a:ext cx="347472" cy="347472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615184"/>
            <a:ext cx="347472" cy="34747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49808" y="257860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knowledge of feature files, step definitions, and BDD framework structure.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228600" y="3145536"/>
            <a:ext cx="868680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200400"/>
            <a:ext cx="347472" cy="347472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200400"/>
            <a:ext cx="347472" cy="34747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49808" y="3163824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test execution, HTML report generation, and automation framework workflow.</a:t>
            </a:r>
            <a:endParaRPr lang="en-US" sz="1200" dirty="0"/>
          </a:p>
        </p:txBody>
      </p:sp>
      <p:sp>
        <p:nvSpPr>
          <p:cNvPr id="25" name="Shape 13"/>
          <p:cNvSpPr/>
          <p:nvPr/>
        </p:nvSpPr>
        <p:spPr>
          <a:xfrm>
            <a:off x="228600" y="3730752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785616"/>
            <a:ext cx="347472" cy="347472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785616"/>
            <a:ext cx="347472" cy="34747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49808" y="374904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validated both positive and negative test scenarios for all banking functionalities.</a:t>
            </a:r>
            <a:endParaRPr lang="en-US" sz="1200" dirty="0"/>
          </a:p>
        </p:txBody>
      </p:sp>
      <p:sp>
        <p:nvSpPr>
          <p:cNvPr id="29" name="Shape 15"/>
          <p:cNvSpPr/>
          <p:nvPr/>
        </p:nvSpPr>
        <p:spPr>
          <a:xfrm>
            <a:off x="228600" y="4315968"/>
            <a:ext cx="868680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370832"/>
            <a:ext cx="347472" cy="347472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370832"/>
            <a:ext cx="347472" cy="34747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49808" y="4334256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teamwork, automation testing skills, and practical knowledge of software testing.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234453-F53A-3C06-62D3-081310C1709B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15-19 presented by: Abhay Shukla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356768" y="4930000"/>
            <a:ext cx="743232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18/19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318656"/>
            <a:ext cx="9144000" cy="431152"/>
          </a:xfrm>
          <a:prstGeom prst="rect">
            <a:avLst/>
          </a:prstGeom>
          <a:solidFill>
            <a:srgbClr val="1A6B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54864"/>
            <a:ext cx="8686800" cy="940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658368" cy="7132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804672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CI/CD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test execution with Jenkins, GitHub Actions, or Azure Pipelines for continuous testing.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1618488"/>
            <a:ext cx="868680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1618488"/>
            <a:ext cx="658368" cy="7132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Cross-Browser Testing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automation to support Firefox, Edge, and Safari using Selenium Grid.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432304"/>
            <a:ext cx="868680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2432304"/>
            <a:ext cx="658368" cy="713232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8600" y="2432304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478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Data-Driven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data-driven approach using Excel or JSON files for wider test coverage.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3246120"/>
            <a:ext cx="868680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246120"/>
            <a:ext cx="658368" cy="7132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28600" y="324612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Improved Reporting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5935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report visualization with Allure Reports for richer test analytics.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4059936"/>
            <a:ext cx="868680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4059936"/>
            <a:ext cx="658368" cy="713232"/>
          </a:xfrm>
          <a:prstGeom prst="rect">
            <a:avLst/>
          </a:prstGeom>
          <a:solidFill>
            <a:srgbClr val="558B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28600" y="4059936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1056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Extended Coverage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4074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additional banking workflows and edge cases not covered in this phase.</a:t>
            </a:r>
            <a:endParaRPr lang="en-US" sz="11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B34CA9-F17F-5BDF-2E45-B9CB1C9E0F56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15-19 presented by: Abhay Shukla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Bar"/>
          <p:cNvSpPr/>
          <p:nvPr/>
        </p:nvSpPr>
        <p:spPr>
          <a:xfrm>
            <a:off x="0" y="0"/>
            <a:ext cx="9144000" cy="32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20000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Wipro-Capstone: Best Team</a:t>
            </a:r>
          </a:p>
        </p:txBody>
      </p:sp>
      <p:sp>
        <p:nvSpPr>
          <p:cNvPr id="902" name="SlideNum"/>
          <p:cNvSpPr/>
          <p:nvPr/>
        </p:nvSpPr>
        <p:spPr>
          <a:xfrm>
            <a:off x="8700000" y="4930000"/>
            <a:ext cx="400000" cy="1800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2" name="Shape 0"/>
          <p:cNvSpPr/>
          <p:nvPr/>
        </p:nvSpPr>
        <p:spPr>
          <a:xfrm>
            <a:off x="0" y="320000"/>
            <a:ext cx="9144000" cy="4823500"/>
          </a:xfrm>
          <a:prstGeom prst="rect">
            <a:avLst/>
          </a:prstGeom>
          <a:solidFill>
            <a:srgbClr val="1A6B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7432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27432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2697480"/>
            <a:ext cx="4480560" cy="36576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20040" y="32004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Priyanshu Pandey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" y="34472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Lavanya Challapalli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3694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Aditya Jain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20040" y="3941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Ishika Singh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06040" y="32004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Shubham Pandey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2606040" y="34472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Pritanjan Baranwal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2606040" y="3694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Abhay Shukla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274320" y="4480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parabank.parasoft.com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4320" y="475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Capstone Project  •  Best Team</a:t>
            </a:r>
          </a:p>
        </p:txBody>
      </p:sp>
      <p:sp>
        <p:nvSpPr>
          <p:cNvPr id="300" name="ContactEmail"/>
          <p:cNvSpPr/>
          <p:nvPr/>
        </p:nvSpPr>
        <p:spPr>
          <a:xfrm>
            <a:off x="4754880" y="4600000"/>
            <a:ext cx="4114799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90A4AE"/>
                </a:solidFill>
                <a:latin typeface="Calibri" pitchFamily="34" charset="0"/>
              </a:rPr>
              <a:t>For any queries: </a:t>
            </a:r>
            <a:r>
              <a:rPr lang="en-US" sz="1400" b="1" dirty="0">
                <a:solidFill>
                  <a:srgbClr val="00BCD4"/>
                </a:solidFill>
                <a:latin typeface="Calibri" pitchFamily="34" charset="0"/>
              </a:rPr>
              <a:t>shubhampandeysp357@gmail.com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8885C-D357-4EF8-C492-EE3551448C79}"/>
              </a:ext>
            </a:extLst>
          </p:cNvPr>
          <p:cNvSpPr txBox="1"/>
          <p:nvPr/>
        </p:nvSpPr>
        <p:spPr>
          <a:xfrm>
            <a:off x="3500154" y="-38362"/>
            <a:ext cx="465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Slides</a:t>
            </a:r>
            <a:r>
              <a:rPr lang="en-IN" dirty="0">
                <a:solidFill>
                  <a:schemeClr val="bg1"/>
                </a:solidFill>
              </a:rPr>
              <a:t> 15-19 presented by: Abhay Shukla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1997</Words>
  <Application>Microsoft Office PowerPoint</Application>
  <PresentationFormat>On-screen Show (16:9)</PresentationFormat>
  <Paragraphs>416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ParaBank Automation Capstone</dc:title>
  <dc:subject>PptxGenJS Presentation</dc:subject>
  <dc:creator>PptxGenJS</dc:creator>
  <cp:lastModifiedBy>Aditya Jain</cp:lastModifiedBy>
  <cp:revision>9</cp:revision>
  <dcterms:created xsi:type="dcterms:W3CDTF">2026-05-22T02:08:56Z</dcterms:created>
  <dcterms:modified xsi:type="dcterms:W3CDTF">2026-05-23T11:40:47Z</dcterms:modified>
</cp:coreProperties>
</file>